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handoutMasterIdLst>
    <p:handoutMasterId r:id="rId30"/>
  </p:handoutMasterIdLst>
  <p:sldIdLst>
    <p:sldId id="280" r:id="rId2"/>
    <p:sldId id="366" r:id="rId3"/>
    <p:sldId id="380" r:id="rId4"/>
    <p:sldId id="383" r:id="rId5"/>
    <p:sldId id="384" r:id="rId6"/>
    <p:sldId id="411" r:id="rId7"/>
    <p:sldId id="385" r:id="rId8"/>
    <p:sldId id="386" r:id="rId9"/>
    <p:sldId id="387" r:id="rId10"/>
    <p:sldId id="388" r:id="rId11"/>
    <p:sldId id="389" r:id="rId12"/>
    <p:sldId id="400" r:id="rId13"/>
    <p:sldId id="402" r:id="rId14"/>
    <p:sldId id="390" r:id="rId15"/>
    <p:sldId id="403" r:id="rId16"/>
    <p:sldId id="391" r:id="rId17"/>
    <p:sldId id="407" r:id="rId18"/>
    <p:sldId id="405" r:id="rId19"/>
    <p:sldId id="408" r:id="rId20"/>
    <p:sldId id="392" r:id="rId21"/>
    <p:sldId id="393" r:id="rId22"/>
    <p:sldId id="394" r:id="rId23"/>
    <p:sldId id="398" r:id="rId24"/>
    <p:sldId id="395" r:id="rId25"/>
    <p:sldId id="397" r:id="rId26"/>
    <p:sldId id="399" r:id="rId27"/>
    <p:sldId id="28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p:scale>
          <a:sx n="77" d="100"/>
          <a:sy n="77" d="100"/>
        </p:scale>
        <p:origin x="1733"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2D727-B836-6C8B-9960-BD8E52E87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A12BE-7F94-9E3D-5EC1-C6460F597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5FD07-F7CA-7ABD-16D0-90479A5F02A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6F1D3E0-F497-E434-687C-9C88CC1629DB}"/>
              </a:ext>
            </a:extLst>
          </p:cNvPr>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4225077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33B33-41D9-6466-5C48-4DEC84483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5F543-E00C-ADE1-2180-52CDE771D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06D8E-1A31-1B4D-0DAA-3E165763F83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918521-E6EA-F3B4-4D1C-9D7169D1EBF7}"/>
              </a:ext>
            </a:extLst>
          </p:cNvPr>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1603887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4F606-A818-5EFA-51CD-812DC1E8C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E090C-2845-3DF6-30A1-13D39D57F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94C2E6-03BB-2C1A-DA87-4CFBD7DB19D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92E348A-416D-EF2B-8D99-94A752B334B2}"/>
              </a:ext>
            </a:extLst>
          </p:cNvPr>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3508209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852F1-5A80-8114-1989-206AA4787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E7417-436B-55F7-78F1-6680C11DDB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799FB-8806-9BB8-AC38-C4401D45A07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506974C-D1BC-5968-1428-39E672A82C50}"/>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3604634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30721-A1D5-0503-EA51-BEA339A54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185F5-402C-CB2E-3DEC-6761ECC333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AC16E4-4EBA-D234-A677-7677ECBDC3D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36BC451-80DE-D873-4565-4A2132FBBDD4}"/>
              </a:ext>
            </a:extLst>
          </p:cNvPr>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59950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9BAB9-3145-DB18-AA1C-1B4177BBD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C9650-0A05-DD82-9F36-DC0076385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3C51B-54C5-F564-2E18-19FB534A74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0CA6C5A-FBF1-6F8F-3B6C-420AB947171A}"/>
              </a:ext>
            </a:extLst>
          </p:cNvPr>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32094867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8B871-ECD4-4584-47B6-7E24B92C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1EBC9-40DB-8289-ABAF-27CF9CDD87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130D3-702D-7A16-9799-421D4DB327E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F596141-C2E2-3B80-A4AD-5C0568696A0F}"/>
              </a:ext>
            </a:extLst>
          </p:cNvPr>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442020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25</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26</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27</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5" r:id="rId3"/>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0.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764533"/>
            <a:chOff x="-14748" y="986564"/>
            <a:chExt cx="9158748" cy="5764533"/>
          </a:xfrm>
        </p:grpSpPr>
        <p:sp>
          <p:nvSpPr>
            <p:cNvPr id="22" name="TextBox 21"/>
            <p:cNvSpPr txBox="1"/>
            <p:nvPr/>
          </p:nvSpPr>
          <p:spPr>
            <a:xfrm>
              <a:off x="177781" y="4812105"/>
              <a:ext cx="4322209" cy="1938992"/>
            </a:xfrm>
            <a:prstGeom prst="rect">
              <a:avLst/>
            </a:prstGeom>
            <a:noFill/>
          </p:spPr>
          <p:txBody>
            <a:bodyPr wrap="square" rtlCol="0">
              <a:spAutoFit/>
            </a:bodyPr>
            <a:lstStyle/>
            <a:p>
              <a:r>
                <a:rPr lang="en-US" sz="2000" b="1" dirty="0"/>
                <a:t>Register no:220701028</a:t>
              </a:r>
            </a:p>
            <a:p>
              <a:r>
                <a:rPr lang="en-US" sz="2000" b="1" dirty="0"/>
                <a:t>Name: ARTHEY C</a:t>
              </a:r>
            </a:p>
            <a:p>
              <a:r>
                <a:rPr lang="en-US" sz="2000" b="1" dirty="0"/>
                <a:t>Guide Name:  Mrs. J. Jinu Sophia</a:t>
              </a:r>
            </a:p>
            <a:p>
              <a:r>
                <a:rPr lang="en-US" sz="2000" b="1" dirty="0"/>
                <a:t>Designation: Assistant Professor(SG)</a:t>
              </a:r>
            </a:p>
            <a:p>
              <a:r>
                <a:rPr lang="en-US" sz="2000" b="1" dirty="0" err="1"/>
                <a:t>Department:Computer</a:t>
              </a:r>
              <a:r>
                <a:rPr lang="en-US" sz="2000" b="1" dirty="0"/>
                <a:t> Science &amp; Engineering</a:t>
              </a:r>
            </a:p>
          </p:txBody>
        </p:sp>
        <p:grpSp>
          <p:nvGrpSpPr>
            <p:cNvPr id="43" name="Group 42"/>
            <p:cNvGrpSpPr/>
            <p:nvPr/>
          </p:nvGrpSpPr>
          <p:grpSpPr>
            <a:xfrm>
              <a:off x="-14748" y="986564"/>
              <a:ext cx="9158748" cy="3699662"/>
              <a:chOff x="-14748" y="986564"/>
              <a:chExt cx="9158748" cy="3699662"/>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2585323"/>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PRODUCT</a:t>
                </a:r>
              </a:p>
              <a:p>
                <a:r>
                  <a:rPr lang="en-US" sz="5400" b="1" dirty="0">
                    <a:solidFill>
                      <a:schemeClr val="bg1"/>
                    </a:solidFill>
                    <a:ea typeface="Open Sans Bold" panose="020B0806030504020204" pitchFamily="34" charset="0"/>
                    <a:cs typeface="Open Sans Bold" panose="020B0806030504020204" pitchFamily="34" charset="0"/>
                  </a:rPr>
                  <a:t>AVAILABILITY</a:t>
                </a:r>
              </a:p>
              <a:p>
                <a:r>
                  <a:rPr lang="en-US" sz="5400" b="1" dirty="0">
                    <a:solidFill>
                      <a:schemeClr val="bg1"/>
                    </a:solidFill>
                    <a:ea typeface="Open Sans Bold" panose="020B0806030504020204" pitchFamily="34" charset="0"/>
                    <a:cs typeface="Open Sans Bold" panose="020B0806030504020204" pitchFamily="34" charset="0"/>
                  </a:rPr>
                  <a:t>CHECKER</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US" dirty="0"/>
              <a:t>The </a:t>
            </a:r>
            <a:r>
              <a:rPr lang="en-US" b="1" dirty="0"/>
              <a:t>Product Availability Checker</a:t>
            </a:r>
            <a:r>
              <a:rPr lang="en-US" dirty="0"/>
              <a:t> is an automated solution built using UiPath Studio to monitor the stock status of products on Amazon. The bot reads a list of product names and URLs from an Excel file and systematically checks their availability on the platform. If a product is in stock, the bot instantly notifies the user via email with the product details. For unavailable items, the bot enters a continuous loop, rechecking their status every 30 minutes until they are back in stock, at which point the user is promptly informed. This project streamlines the tedious task of manual product monitoring, ensuring timely updates and enhancing user convenience.</a:t>
            </a:r>
          </a:p>
          <a:p>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pPr algn="just"/>
            <a:r>
              <a:rPr lang="en-US" dirty="0"/>
              <a:t>Manually tracking the availability of products on e-commerce platforms like Amazon can be time-consuming and inefficient, especially for high-demand items. Users often miss restocking updates due to the fast-paced nature of online sales.</a:t>
            </a:r>
          </a:p>
          <a:p>
            <a:pPr algn="just"/>
            <a:r>
              <a:rPr lang="en-US" dirty="0"/>
              <a:t>The </a:t>
            </a:r>
            <a:r>
              <a:rPr lang="en-US" b="1" dirty="0"/>
              <a:t>Product Availability Checker</a:t>
            </a:r>
            <a:r>
              <a:rPr lang="en-US" dirty="0"/>
              <a:t> automates this process, eliminating the need for constant manual checks. By continuously monitoring stock status and sending instant email notifications when products are available, the system ensures users receive timely updates, saving time and enabling prompt purchasing decisions.</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US" b="1" dirty="0"/>
              <a:t>Automation of Stock Monitoring:</a:t>
            </a:r>
            <a:r>
              <a:rPr lang="en-US" dirty="0"/>
              <a:t> The system automatically tracks product availability, saving time and effort for users.</a:t>
            </a:r>
          </a:p>
          <a:p>
            <a:pPr marL="0" indent="0" algn="just">
              <a:buNone/>
            </a:pPr>
            <a:endParaRPr lang="en-US" dirty="0"/>
          </a:p>
          <a:p>
            <a:pPr marL="0" indent="0" algn="just">
              <a:buNone/>
            </a:pPr>
            <a:r>
              <a:rPr lang="en-US" b="1" dirty="0"/>
              <a:t>Timely Notifications:</a:t>
            </a:r>
            <a:r>
              <a:rPr lang="en-US" dirty="0"/>
              <a:t> Instant email alerts ensure users are informed as soon as a product is back in stock.</a:t>
            </a:r>
          </a:p>
          <a:p>
            <a:pPr marL="0" indent="0" algn="just">
              <a:buNone/>
            </a:pPr>
            <a:endParaRPr lang="en-US" dirty="0"/>
          </a:p>
          <a:p>
            <a:pPr marL="0" indent="0" algn="just">
              <a:buNone/>
            </a:pPr>
            <a:r>
              <a:rPr lang="en-US" b="1" dirty="0"/>
              <a:t>Reduced Manual Effort:</a:t>
            </a:r>
            <a:r>
              <a:rPr lang="en-US" dirty="0"/>
              <a:t> Users no longer need to repeatedly check e-commerce websites, simplifying the shopping process.</a:t>
            </a:r>
          </a:p>
          <a:p>
            <a:pPr marL="0" indent="0" algn="just">
              <a:buNone/>
            </a:pPr>
            <a:endParaRPr lang="en-US" dirty="0"/>
          </a:p>
          <a:p>
            <a:pPr marL="0" indent="0" algn="just">
              <a:buNone/>
            </a:pPr>
            <a:r>
              <a:rPr lang="en-US" b="1" dirty="0"/>
              <a:t>24/7 Monitoring:</a:t>
            </a:r>
            <a:r>
              <a:rPr lang="en-US" dirty="0"/>
              <a:t> The system continuously operates, providing updates even when the user is unavailable.</a:t>
            </a:r>
          </a:p>
          <a:p>
            <a:pPr marL="0" indent="0">
              <a:buNone/>
            </a:pP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Literature Survey</a:t>
            </a:r>
            <a:br>
              <a:rPr lang="en-US" dirty="0"/>
            </a:br>
            <a:endParaRPr lang="en-IN" dirty="0">
              <a:latin typeface="+mj-lt"/>
            </a:endParaRPr>
          </a:p>
        </p:txBody>
      </p:sp>
      <p:sp>
        <p:nvSpPr>
          <p:cNvPr id="3" name="Content Placeholder 2"/>
          <p:cNvSpPr>
            <a:spLocks noGrp="1"/>
          </p:cNvSpPr>
          <p:nvPr>
            <p:ph sz="half" idx="1"/>
          </p:nvPr>
        </p:nvSpPr>
        <p:spPr>
          <a:xfrm>
            <a:off x="454132" y="1880828"/>
            <a:ext cx="4038600" cy="4525963"/>
          </a:xfrm>
        </p:spPr>
        <p:txBody>
          <a:bodyPr>
            <a:normAutofit fontScale="85000" lnSpcReduction="10000"/>
          </a:bodyPr>
          <a:lstStyle/>
          <a:p>
            <a:pPr marL="0" indent="0">
              <a:buNone/>
            </a:pPr>
            <a:endParaRPr lang="en-US" b="1" dirty="0"/>
          </a:p>
          <a:p>
            <a:pPr marL="0" indent="0">
              <a:buNone/>
            </a:pPr>
            <a:r>
              <a:rPr lang="en-US" b="1" dirty="0"/>
              <a:t>Advantages:</a:t>
            </a:r>
          </a:p>
          <a:p>
            <a:pPr>
              <a:buFont typeface="+mj-lt"/>
              <a:buAutoNum type="arabicPeriod"/>
            </a:pPr>
            <a:r>
              <a:rPr lang="en-US" b="1" dirty="0"/>
              <a:t>Enhanced User Experience:</a:t>
            </a:r>
            <a:endParaRPr lang="en-US" dirty="0"/>
          </a:p>
          <a:p>
            <a:pPr marL="742950" lvl="1" indent="-285750" algn="just">
              <a:buFont typeface="+mj-lt"/>
              <a:buAutoNum type="arabicPeriod"/>
            </a:pPr>
            <a:r>
              <a:rPr lang="en-US" dirty="0"/>
              <a:t>Provides real-time, interactive information to help users quickly identify nearby shops and available products using AR technology.</a:t>
            </a:r>
          </a:p>
          <a:p>
            <a:pPr algn="just">
              <a:buFont typeface="+mj-lt"/>
              <a:buAutoNum type="arabicPeriod"/>
            </a:pPr>
            <a:r>
              <a:rPr lang="en-US" b="1" dirty="0"/>
              <a:t>Convenience:</a:t>
            </a:r>
            <a:endParaRPr lang="en-US" dirty="0"/>
          </a:p>
          <a:p>
            <a:pPr marL="742950" lvl="1" indent="-285750" algn="just">
              <a:buFont typeface="+mj-lt"/>
              <a:buAutoNum type="arabicPeriod"/>
            </a:pPr>
            <a:r>
              <a:rPr lang="en-US" dirty="0"/>
              <a:t>Bypasses traditional search methods, offering a faster and easier way to check product availability in surrounding stores.</a:t>
            </a:r>
          </a:p>
          <a:p>
            <a:endParaRPr lang="en-US" dirty="0"/>
          </a:p>
          <a:p>
            <a:endParaRPr lang="en-US" dirty="0"/>
          </a:p>
        </p:txBody>
      </p:sp>
      <p:sp>
        <p:nvSpPr>
          <p:cNvPr id="5" name="Content Placeholder 4">
            <a:extLst>
              <a:ext uri="{FF2B5EF4-FFF2-40B4-BE49-F238E27FC236}">
                <a16:creationId xmlns:a16="http://schemas.microsoft.com/office/drawing/2014/main" id="{8DC2DF80-E464-EC04-A931-28B377D9138A}"/>
              </a:ext>
            </a:extLst>
          </p:cNvPr>
          <p:cNvSpPr>
            <a:spLocks noGrp="1"/>
          </p:cNvSpPr>
          <p:nvPr>
            <p:ph sz="half" idx="2"/>
          </p:nvPr>
        </p:nvSpPr>
        <p:spPr>
          <a:xfrm>
            <a:off x="4824028" y="2280918"/>
            <a:ext cx="4038600" cy="4525963"/>
          </a:xfrm>
        </p:spPr>
        <p:txBody>
          <a:bodyPr>
            <a:normAutofit fontScale="85000" lnSpcReduction="10000"/>
          </a:bodyPr>
          <a:lstStyle/>
          <a:p>
            <a:r>
              <a:rPr lang="en-US" b="1" dirty="0"/>
              <a:t>Disadvantages:</a:t>
            </a:r>
          </a:p>
          <a:p>
            <a:pPr>
              <a:buFont typeface="+mj-lt"/>
              <a:buAutoNum type="arabicPeriod"/>
            </a:pPr>
            <a:r>
              <a:rPr lang="en-US" b="1" dirty="0"/>
              <a:t>Limited Coverage:</a:t>
            </a:r>
            <a:endParaRPr lang="en-US" dirty="0"/>
          </a:p>
          <a:p>
            <a:pPr marL="742950" lvl="1" indent="-285750" algn="just">
              <a:buFont typeface="+mj-lt"/>
              <a:buAutoNum type="arabicPeriod"/>
            </a:pPr>
            <a:r>
              <a:rPr lang="en-US" dirty="0"/>
              <a:t>The system is restricted to specific locations, limiting its usefulness to users within certain buildings or areas.</a:t>
            </a:r>
          </a:p>
          <a:p>
            <a:pPr marL="742950" lvl="1" indent="-285750" algn="just">
              <a:buFont typeface="+mj-lt"/>
              <a:buAutoNum type="arabicPeriod"/>
            </a:pPr>
            <a:endParaRPr lang="en-US" dirty="0"/>
          </a:p>
          <a:p>
            <a:pPr algn="just">
              <a:buFont typeface="+mj-lt"/>
              <a:buAutoNum type="arabicPeriod"/>
            </a:pPr>
            <a:r>
              <a:rPr lang="en-US" b="1" dirty="0"/>
              <a:t>Device Dependency:</a:t>
            </a:r>
            <a:endParaRPr lang="en-US" dirty="0"/>
          </a:p>
          <a:p>
            <a:pPr marL="457200" lvl="1" indent="0" algn="just">
              <a:buNone/>
            </a:pPr>
            <a:r>
              <a:rPr lang="en-US" dirty="0"/>
              <a:t>2. Relies on smartphones with AR capabilities, excluding users without access to such devices.</a:t>
            </a:r>
          </a:p>
          <a:p>
            <a:endParaRPr lang="en-IN" dirty="0"/>
          </a:p>
        </p:txBody>
      </p:sp>
      <p:sp>
        <p:nvSpPr>
          <p:cNvPr id="6" name="TextBox 5">
            <a:extLst>
              <a:ext uri="{FF2B5EF4-FFF2-40B4-BE49-F238E27FC236}">
                <a16:creationId xmlns:a16="http://schemas.microsoft.com/office/drawing/2014/main" id="{EF90351D-3863-51C2-289E-13EDE7A1EA09}"/>
              </a:ext>
            </a:extLst>
          </p:cNvPr>
          <p:cNvSpPr txBox="1"/>
          <p:nvPr/>
        </p:nvSpPr>
        <p:spPr>
          <a:xfrm>
            <a:off x="454132" y="1142999"/>
            <a:ext cx="7574252" cy="914400"/>
          </a:xfrm>
          <a:prstGeom prst="rect">
            <a:avLst/>
          </a:prstGeom>
          <a:noFill/>
        </p:spPr>
        <p:txBody>
          <a:bodyPr wrap="square" rtlCol="0">
            <a:spAutoFit/>
          </a:bodyPr>
          <a:lstStyle/>
          <a:p>
            <a:r>
              <a:rPr lang="en-IN" b="1" i="0" dirty="0">
                <a:solidFill>
                  <a:srgbClr val="222222"/>
                </a:solidFill>
                <a:effectLst/>
                <a:latin typeface="Arial" panose="020B0604020202020204" pitchFamily="34" charset="0"/>
              </a:rPr>
              <a:t>Paper 1:</a:t>
            </a:r>
          </a:p>
          <a:p>
            <a:pPr marL="0" indent="0">
              <a:buNone/>
            </a:pPr>
            <a:r>
              <a:rPr lang="en-IN" b="0" i="0" dirty="0">
                <a:solidFill>
                  <a:srgbClr val="222222"/>
                </a:solidFill>
                <a:effectLst/>
                <a:latin typeface="Arial" panose="020B0604020202020204" pitchFamily="34" charset="0"/>
              </a:rPr>
              <a:t>Masri, Amirah </a:t>
            </a:r>
            <a:r>
              <a:rPr lang="en-IN" b="0" i="0" dirty="0" err="1">
                <a:solidFill>
                  <a:srgbClr val="222222"/>
                </a:solidFill>
                <a:effectLst/>
                <a:latin typeface="Arial" panose="020B0604020202020204" pitchFamily="34" charset="0"/>
              </a:rPr>
              <a:t>Shaali</a:t>
            </a:r>
            <a:r>
              <a:rPr lang="en-IN" b="0" i="0" dirty="0">
                <a:solidFill>
                  <a:srgbClr val="222222"/>
                </a:solidFill>
                <a:effectLst/>
                <a:latin typeface="Arial" panose="020B0604020202020204" pitchFamily="34" charset="0"/>
              </a:rPr>
              <a:t>. "Augmented Reality Based Product Availability Checker Using </a:t>
            </a:r>
            <a:r>
              <a:rPr lang="en-IN" b="0" i="0" dirty="0" err="1">
                <a:solidFill>
                  <a:srgbClr val="222222"/>
                </a:solidFill>
                <a:effectLst/>
                <a:latin typeface="Arial" panose="020B0604020202020204" pitchFamily="34" charset="0"/>
              </a:rPr>
              <a:t>Junaio</a:t>
            </a:r>
            <a:r>
              <a:rPr lang="en-IN" b="0" i="0" dirty="0">
                <a:solidFill>
                  <a:srgbClr val="222222"/>
                </a:solidFill>
                <a:effectLst/>
                <a:latin typeface="Arial" panose="020B0604020202020204" pitchFamily="34" charset="0"/>
              </a:rPr>
              <a:t> Browser." (2011).</a:t>
            </a:r>
            <a:r>
              <a:rPr lang="en-US" dirty="0"/>
              <a:t> </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BA940-8E2B-D89A-372D-15531C2ED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AA1B7-BFAA-6718-F6DF-9FF9DD40F1CA}"/>
              </a:ext>
            </a:extLst>
          </p:cNvPr>
          <p:cNvSpPr>
            <a:spLocks noGrp="1"/>
          </p:cNvSpPr>
          <p:nvPr>
            <p:ph type="title"/>
          </p:nvPr>
        </p:nvSpPr>
        <p:spPr/>
        <p:txBody>
          <a:bodyPr>
            <a:normAutofit fontScale="90000"/>
          </a:bodyPr>
          <a:lstStyle/>
          <a:p>
            <a:r>
              <a:rPr lang="en-US" dirty="0"/>
              <a:t>Literature Survey</a:t>
            </a:r>
            <a:br>
              <a:rPr lang="en-US" dirty="0"/>
            </a:br>
            <a:endParaRPr lang="en-IN" dirty="0">
              <a:latin typeface="+mj-lt"/>
            </a:endParaRPr>
          </a:p>
        </p:txBody>
      </p:sp>
      <p:sp>
        <p:nvSpPr>
          <p:cNvPr id="3" name="Content Placeholder 2">
            <a:extLst>
              <a:ext uri="{FF2B5EF4-FFF2-40B4-BE49-F238E27FC236}">
                <a16:creationId xmlns:a16="http://schemas.microsoft.com/office/drawing/2014/main" id="{8415DA03-4150-31D5-FD71-24D9EB2E3A8D}"/>
              </a:ext>
            </a:extLst>
          </p:cNvPr>
          <p:cNvSpPr>
            <a:spLocks noGrp="1"/>
          </p:cNvSpPr>
          <p:nvPr>
            <p:ph sz="half" idx="1"/>
          </p:nvPr>
        </p:nvSpPr>
        <p:spPr>
          <a:xfrm>
            <a:off x="454132" y="1880828"/>
            <a:ext cx="4038600" cy="4525963"/>
          </a:xfrm>
        </p:spPr>
        <p:txBody>
          <a:bodyPr>
            <a:normAutofit fontScale="70000" lnSpcReduction="20000"/>
          </a:bodyPr>
          <a:lstStyle/>
          <a:p>
            <a:pPr marL="0" indent="0">
              <a:buNone/>
            </a:pPr>
            <a:endParaRPr lang="en-US" b="1" dirty="0"/>
          </a:p>
          <a:p>
            <a:pPr marL="0" indent="0">
              <a:buNone/>
            </a:pPr>
            <a:r>
              <a:rPr lang="en-US" b="1" dirty="0"/>
              <a:t>Advantages:</a:t>
            </a:r>
          </a:p>
          <a:p>
            <a:pPr>
              <a:buFont typeface="+mj-lt"/>
              <a:buAutoNum type="arabicPeriod"/>
            </a:pPr>
            <a:r>
              <a:rPr lang="en-US" sz="2900" b="1" dirty="0"/>
              <a:t>Improved Product Monitoring:</a:t>
            </a:r>
            <a:endParaRPr lang="en-US" sz="2900" dirty="0"/>
          </a:p>
          <a:p>
            <a:pPr marL="742950" lvl="1" indent="-285750" algn="just">
              <a:buFont typeface="+mj-lt"/>
              <a:buAutoNum type="arabicPeriod"/>
            </a:pPr>
            <a:r>
              <a:rPr lang="en-US" sz="2900" dirty="0"/>
              <a:t>Discrete Event Simulation (DES) helps evaluate various monitoring levels, enabling better decision-making to improve product availability and maintenance efficiency.</a:t>
            </a:r>
          </a:p>
          <a:p>
            <a:pPr>
              <a:buFont typeface="+mj-lt"/>
              <a:buAutoNum type="arabicPeriod"/>
            </a:pPr>
            <a:r>
              <a:rPr lang="en-US" sz="2900" b="1" dirty="0"/>
              <a:t>Data-Driven Insights:</a:t>
            </a:r>
            <a:endParaRPr lang="en-US" sz="2900" dirty="0"/>
          </a:p>
          <a:p>
            <a:pPr marL="742950" lvl="1" indent="-285750" algn="just">
              <a:buFont typeface="+mj-lt"/>
              <a:buAutoNum type="arabicPeriod"/>
            </a:pPr>
            <a:r>
              <a:rPr lang="en-US" sz="2900" dirty="0"/>
              <a:t>The use of diagnostics and prognostics allows for predicting potential failures, leading to proactive maintenance and potentially reducing downtime.</a:t>
            </a:r>
          </a:p>
          <a:p>
            <a:pPr marL="457200" lvl="1" indent="0" algn="just">
              <a:buNone/>
            </a:pPr>
            <a:endParaRPr lang="en-US" dirty="0"/>
          </a:p>
          <a:p>
            <a:endParaRPr lang="en-US" dirty="0"/>
          </a:p>
          <a:p>
            <a:endParaRPr lang="en-US" dirty="0"/>
          </a:p>
        </p:txBody>
      </p:sp>
      <p:sp>
        <p:nvSpPr>
          <p:cNvPr id="5" name="Content Placeholder 4">
            <a:extLst>
              <a:ext uri="{FF2B5EF4-FFF2-40B4-BE49-F238E27FC236}">
                <a16:creationId xmlns:a16="http://schemas.microsoft.com/office/drawing/2014/main" id="{215F5E6B-6748-490B-3823-86BC57B662EA}"/>
              </a:ext>
            </a:extLst>
          </p:cNvPr>
          <p:cNvSpPr>
            <a:spLocks noGrp="1"/>
          </p:cNvSpPr>
          <p:nvPr>
            <p:ph sz="half" idx="2"/>
          </p:nvPr>
        </p:nvSpPr>
        <p:spPr>
          <a:xfrm>
            <a:off x="4824028" y="2280918"/>
            <a:ext cx="4038600" cy="4525963"/>
          </a:xfrm>
        </p:spPr>
        <p:txBody>
          <a:bodyPr>
            <a:normAutofit fontScale="70000" lnSpcReduction="20000"/>
          </a:bodyPr>
          <a:lstStyle/>
          <a:p>
            <a:r>
              <a:rPr lang="en-US" sz="2900" b="1" dirty="0">
                <a:latin typeface="Times New Roman" panose="02020603050405020304" pitchFamily="18" charset="0"/>
                <a:cs typeface="Times New Roman" panose="02020603050405020304" pitchFamily="18" charset="0"/>
              </a:rPr>
              <a:t>Disadvantages:</a:t>
            </a:r>
          </a:p>
          <a:p>
            <a:pPr>
              <a:buFont typeface="+mj-lt"/>
              <a:buAutoNum type="arabicPeriod"/>
            </a:pPr>
            <a:r>
              <a:rPr lang="en-US" sz="2900" b="1" dirty="0">
                <a:latin typeface="Times New Roman" panose="02020603050405020304" pitchFamily="18" charset="0"/>
                <a:cs typeface="Times New Roman" panose="02020603050405020304" pitchFamily="18" charset="0"/>
              </a:rPr>
              <a:t>Complexity in Implementation:</a:t>
            </a:r>
            <a:endParaRPr lang="en-US" sz="29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900" dirty="0">
                <a:latin typeface="+mj-lt"/>
                <a:cs typeface="Times New Roman" panose="02020603050405020304" pitchFamily="18" charset="0"/>
              </a:rPr>
              <a:t>Applying advanced monitoring techniques and simulations might require significant expertise and resources, increasing the complexity of the system setup.</a:t>
            </a:r>
          </a:p>
          <a:p>
            <a:pPr>
              <a:buFont typeface="+mj-lt"/>
              <a:buAutoNum type="arabicPeriod"/>
            </a:pPr>
            <a:r>
              <a:rPr lang="en-US" sz="2900" b="1" dirty="0">
                <a:latin typeface="+mj-lt"/>
                <a:cs typeface="Times New Roman" panose="02020603050405020304" pitchFamily="18" charset="0"/>
              </a:rPr>
              <a:t>Potential Overhead:</a:t>
            </a:r>
            <a:endParaRPr lang="en-US" sz="2900" dirty="0">
              <a:latin typeface="+mj-lt"/>
              <a:cs typeface="Times New Roman" panose="02020603050405020304" pitchFamily="18" charset="0"/>
            </a:endParaRPr>
          </a:p>
          <a:p>
            <a:pPr marL="742950" lvl="1" indent="-285750" algn="just">
              <a:buFont typeface="+mj-lt"/>
              <a:buAutoNum type="arabicPeriod"/>
            </a:pPr>
            <a:r>
              <a:rPr lang="en-US" sz="2900" dirty="0">
                <a:latin typeface="+mj-lt"/>
                <a:cs typeface="Times New Roman" panose="02020603050405020304" pitchFamily="18" charset="0"/>
              </a:rPr>
              <a:t>High levels of monitoring could lead to additional operational costs or resource usage, which may not always justify the improvements in availability, especially in smaller-scale applications.</a:t>
            </a:r>
          </a:p>
          <a:p>
            <a:endParaRPr lang="en-IN" dirty="0"/>
          </a:p>
        </p:txBody>
      </p:sp>
      <p:sp>
        <p:nvSpPr>
          <p:cNvPr id="6" name="TextBox 5">
            <a:extLst>
              <a:ext uri="{FF2B5EF4-FFF2-40B4-BE49-F238E27FC236}">
                <a16:creationId xmlns:a16="http://schemas.microsoft.com/office/drawing/2014/main" id="{36C2F599-FC9E-AF87-EFC5-2047C5E79645}"/>
              </a:ext>
            </a:extLst>
          </p:cNvPr>
          <p:cNvSpPr txBox="1"/>
          <p:nvPr/>
        </p:nvSpPr>
        <p:spPr>
          <a:xfrm>
            <a:off x="454132" y="1142999"/>
            <a:ext cx="7574252" cy="1200329"/>
          </a:xfrm>
          <a:prstGeom prst="rect">
            <a:avLst/>
          </a:prstGeom>
          <a:noFill/>
        </p:spPr>
        <p:txBody>
          <a:bodyPr wrap="square" rtlCol="0">
            <a:spAutoFit/>
          </a:bodyPr>
          <a:lstStyle/>
          <a:p>
            <a:r>
              <a:rPr lang="en-IN" b="1" i="0" dirty="0">
                <a:solidFill>
                  <a:srgbClr val="222222"/>
                </a:solidFill>
                <a:effectLst/>
                <a:latin typeface="Arial" panose="020B0604020202020204" pitchFamily="34" charset="0"/>
              </a:rPr>
              <a:t>Paper 1:</a:t>
            </a:r>
          </a:p>
          <a:p>
            <a:pPr marL="0" indent="0">
              <a:buNone/>
            </a:pPr>
            <a:r>
              <a:rPr lang="en-US" b="0" i="0" dirty="0">
                <a:solidFill>
                  <a:srgbClr val="222222"/>
                </a:solidFill>
                <a:effectLst/>
                <a:latin typeface="Arial" panose="020B0604020202020204" pitchFamily="34" charset="0"/>
              </a:rPr>
              <a:t>Selecting the appropriate product monitoring levels for maintenance operations: A simulation approach</a:t>
            </a:r>
          </a:p>
          <a:p>
            <a:pPr marL="0" indent="0">
              <a:buNone/>
            </a:pPr>
            <a:endParaRPr lang="en-US" b="0" i="0" dirty="0">
              <a:solidFill>
                <a:srgbClr val="222222"/>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4034056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pPr algn="just"/>
            <a:r>
              <a:rPr lang="en-US" dirty="0"/>
              <a:t>The main objective of the </a:t>
            </a:r>
            <a:r>
              <a:rPr lang="en-US" b="1" dirty="0"/>
              <a:t>Product Availability Checker</a:t>
            </a:r>
            <a:r>
              <a:rPr lang="en-US" dirty="0"/>
              <a:t> is to automate the process of monitoring product stock status on e-commerce platforms, such as Amazon, and provide real-time notifications to users. By leveraging UiPath Studio for automation, the system aims to eliminate the need for manual checks, ensuring users are promptly informed via email when desired products become available. This enhances user convenience, saves time, and ensures they never miss out on purchasing opportunities for high-demand items.</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5" name="Content Placeholder 4">
            <a:extLst>
              <a:ext uri="{FF2B5EF4-FFF2-40B4-BE49-F238E27FC236}">
                <a16:creationId xmlns:a16="http://schemas.microsoft.com/office/drawing/2014/main" id="{C896376A-5401-C381-A85D-80E233B5575A}"/>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90500" y="1449745"/>
            <a:ext cx="8763000" cy="4415709"/>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numCol="2">
            <a:normAutofit/>
          </a:bodyPr>
          <a:lstStyle/>
          <a:p>
            <a:r>
              <a:rPr lang="en-US" b="1" dirty="0"/>
              <a:t>HARDWARE REQUIREMENTS                                            </a:t>
            </a:r>
          </a:p>
          <a:p>
            <a:endParaRPr lang="en-US" sz="2400" b="1" dirty="0"/>
          </a:p>
          <a:p>
            <a:r>
              <a:rPr lang="en-IN" sz="2400" b="1" dirty="0"/>
              <a:t>UiPath Studio</a:t>
            </a:r>
            <a:r>
              <a:rPr lang="en-IN" sz="2400" dirty="0"/>
              <a:t>: Latest version</a:t>
            </a:r>
          </a:p>
          <a:p>
            <a:r>
              <a:rPr lang="en-US" sz="2400" b="1" dirty="0"/>
              <a:t>Operating System</a:t>
            </a:r>
            <a:r>
              <a:rPr lang="en-US" sz="2400" dirty="0"/>
              <a:t>: Windows 10 (64-bit) or later</a:t>
            </a:r>
          </a:p>
          <a:p>
            <a:r>
              <a:rPr lang="en-US" sz="2400" b="1" dirty="0"/>
              <a:t>Microsoft Excel</a:t>
            </a:r>
            <a:r>
              <a:rPr lang="en-US" sz="2400" dirty="0"/>
              <a:t>: 2016 or later</a:t>
            </a:r>
          </a:p>
          <a:p>
            <a:r>
              <a:rPr lang="en-US" sz="2400" b="1" dirty="0"/>
              <a:t>Email Service</a:t>
            </a:r>
            <a:r>
              <a:rPr lang="en-US" sz="2400" dirty="0"/>
              <a:t>: SMTP (Gmail, Outlook)</a:t>
            </a:r>
          </a:p>
          <a:p>
            <a:endParaRPr lang="en-US" sz="2400" b="1" dirty="0"/>
          </a:p>
          <a:p>
            <a:endParaRPr lang="en-US" sz="2400" b="1" dirty="0"/>
          </a:p>
          <a:p>
            <a:pPr marL="0" indent="0">
              <a:buNone/>
            </a:pPr>
            <a:endParaRPr lang="en-US" sz="2400" b="1" dirty="0"/>
          </a:p>
          <a:p>
            <a:r>
              <a:rPr lang="en-US" b="1" dirty="0"/>
              <a:t>SOFTWARE REQUIREMENTS</a:t>
            </a:r>
            <a:endParaRPr lang="en-US" sz="2400" b="1" dirty="0"/>
          </a:p>
          <a:p>
            <a:pPr marL="0" indent="0">
              <a:buNone/>
            </a:pPr>
            <a:endParaRPr lang="en-US" sz="2400" b="1" dirty="0"/>
          </a:p>
          <a:p>
            <a:r>
              <a:rPr lang="en-US" sz="2400" b="1" dirty="0"/>
              <a:t>Web Browser</a:t>
            </a:r>
            <a:r>
              <a:rPr lang="en-US" sz="2400" dirty="0"/>
              <a:t>: Chrome, Firefox, Edge</a:t>
            </a:r>
            <a:endParaRPr lang="en-US" dirty="0"/>
          </a:p>
          <a:p>
            <a:r>
              <a:rPr lang="en-US" sz="2400" b="1" dirty="0"/>
              <a:t>Processor</a:t>
            </a:r>
            <a:r>
              <a:rPr lang="en-US" sz="2400" dirty="0"/>
              <a:t>: Intel i5 or higher</a:t>
            </a:r>
            <a:endParaRPr lang="en-US" sz="2400" b="1" dirty="0"/>
          </a:p>
          <a:p>
            <a:r>
              <a:rPr lang="en-US" b="1" dirty="0"/>
              <a:t>Storage</a:t>
            </a:r>
            <a:r>
              <a:rPr lang="en-US" dirty="0"/>
              <a:t>: 10 GB free space</a:t>
            </a:r>
          </a:p>
          <a:p>
            <a:r>
              <a:rPr lang="en-IN" b="1" dirty="0"/>
              <a:t>Network</a:t>
            </a:r>
            <a:r>
              <a:rPr lang="en-IN" dirty="0"/>
              <a:t>: Stable internet</a:t>
            </a:r>
          </a:p>
          <a:p>
            <a:r>
              <a:rPr lang="en-IN" b="1" dirty="0"/>
              <a:t>Display</a:t>
            </a:r>
            <a:r>
              <a:rPr lang="en-IN" dirty="0"/>
              <a:t>: 1366x768 resolution</a:t>
            </a:r>
            <a:endParaRPr lang="en-US" dirty="0"/>
          </a:p>
          <a:p>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b="1" dirty="0"/>
              <a:t>Module 1:Product Availability Checking</a:t>
            </a:r>
          </a:p>
          <a:p>
            <a:pPr marL="0" indent="0">
              <a:buNone/>
            </a:pPr>
            <a:endParaRPr lang="en-US" b="1" dirty="0"/>
          </a:p>
          <a:p>
            <a:pPr marL="0" indent="0" algn="just">
              <a:buNone/>
            </a:pPr>
            <a:r>
              <a:rPr lang="en-US" b="1" dirty="0"/>
              <a:t>Description</a:t>
            </a:r>
            <a:r>
              <a:rPr lang="en-US" dirty="0"/>
              <a:t>: </a:t>
            </a:r>
            <a:r>
              <a:rPr lang="en-US" sz="2400" dirty="0"/>
              <a:t>This module automates checking the availability of products listed in an Excel file. The bot reads product names and URLs from the file and periodically checks if each product is available for purchase on Amazon, either by scraping the page or using an API (if available). The bot checks every 30 minutes and stops once the product is in stock. Once available, the bot sends an email notification to the user, ensuring timely alerts without manual intervention.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mj-lt"/>
              </a:rPr>
              <a:t>Activity Diagram</a:t>
            </a:r>
          </a:p>
        </p:txBody>
      </p:sp>
      <p:pic>
        <p:nvPicPr>
          <p:cNvPr id="9" name="Content Placeholder 8">
            <a:extLst>
              <a:ext uri="{FF2B5EF4-FFF2-40B4-BE49-F238E27FC236}">
                <a16:creationId xmlns:a16="http://schemas.microsoft.com/office/drawing/2014/main" id="{BA029D41-3E18-9E38-09DC-8556A283A7C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204292" y="1300162"/>
            <a:ext cx="6896100" cy="4714875"/>
          </a:xfr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89CEA-4ED2-680C-5020-607B996CA4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8D780F-1905-AC86-D282-414A32036954}"/>
              </a:ext>
            </a:extLst>
          </p:cNvPr>
          <p:cNvSpPr>
            <a:spLocks noGrp="1"/>
          </p:cNvSpPr>
          <p:nvPr>
            <p:ph idx="1"/>
          </p:nvPr>
        </p:nvSpPr>
        <p:spPr>
          <a:xfrm>
            <a:off x="190500" y="296652"/>
            <a:ext cx="8763000" cy="5799348"/>
          </a:xfrm>
        </p:spPr>
        <p:txBody>
          <a:bodyPr/>
          <a:lstStyle/>
          <a:p>
            <a:pPr marL="0" indent="0">
              <a:buNone/>
            </a:pPr>
            <a:r>
              <a:rPr lang="en-US" b="1" dirty="0"/>
              <a:t>Module 2: Email Notification</a:t>
            </a:r>
          </a:p>
          <a:p>
            <a:pPr marL="0" indent="0" algn="just">
              <a:buNone/>
            </a:pPr>
            <a:r>
              <a:rPr lang="en-US" b="1" dirty="0"/>
              <a:t>Description</a:t>
            </a:r>
            <a:r>
              <a:rPr lang="en-US" dirty="0"/>
              <a:t>: This module is responsible for sending email notifications to the user when a product becomes available for purchase. It uses an SMTP service to send the email and provides the product's availability status.</a:t>
            </a:r>
          </a:p>
          <a:p>
            <a:pPr marL="0" indent="0">
              <a:buNone/>
            </a:pPr>
            <a:endParaRPr lang="en-US" dirty="0"/>
          </a:p>
        </p:txBody>
      </p:sp>
      <p:pic>
        <p:nvPicPr>
          <p:cNvPr id="5" name="Picture 4">
            <a:extLst>
              <a:ext uri="{FF2B5EF4-FFF2-40B4-BE49-F238E27FC236}">
                <a16:creationId xmlns:a16="http://schemas.microsoft.com/office/drawing/2014/main" id="{E0B2540F-2D87-24D5-5DDC-E7D25B9756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5676" y="2744924"/>
            <a:ext cx="5191125" cy="3048000"/>
          </a:xfrm>
          <a:prstGeom prst="rect">
            <a:avLst/>
          </a:prstGeom>
        </p:spPr>
      </p:pic>
    </p:spTree>
    <p:custDataLst>
      <p:tags r:id="rId1"/>
    </p:custDataLst>
    <p:extLst>
      <p:ext uri="{BB962C8B-B14F-4D97-AF65-F5344CB8AC3E}">
        <p14:creationId xmlns:p14="http://schemas.microsoft.com/office/powerpoint/2010/main" val="141607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BA507-BD34-ED09-82F0-EC66D5B03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5A67E-A03D-1CE3-3A7C-C6E204811E21}"/>
              </a:ext>
            </a:extLst>
          </p:cNvPr>
          <p:cNvSpPr>
            <a:spLocks noGrp="1"/>
          </p:cNvSpPr>
          <p:nvPr>
            <p:ph type="title"/>
          </p:nvPr>
        </p:nvSpPr>
        <p:spPr/>
        <p:txBody>
          <a:bodyPr>
            <a:normAutofit/>
          </a:bodyPr>
          <a:lstStyle/>
          <a:p>
            <a:r>
              <a:rPr lang="en-US" dirty="0">
                <a:latin typeface="+mj-lt"/>
              </a:rPr>
              <a:t>Entity Relationship Diagram</a:t>
            </a:r>
            <a:endParaRPr lang="en-IN" dirty="0">
              <a:latin typeface="+mj-lt"/>
            </a:endParaRPr>
          </a:p>
        </p:txBody>
      </p:sp>
      <p:sp>
        <p:nvSpPr>
          <p:cNvPr id="3" name="Content Placeholder 2">
            <a:extLst>
              <a:ext uri="{FF2B5EF4-FFF2-40B4-BE49-F238E27FC236}">
                <a16:creationId xmlns:a16="http://schemas.microsoft.com/office/drawing/2014/main" id="{AD8077B7-1753-D9E7-1017-609275B21B07}"/>
              </a:ext>
            </a:extLst>
          </p:cNvPr>
          <p:cNvSpPr>
            <a:spLocks noGrp="1"/>
          </p:cNvSpPr>
          <p:nvPr>
            <p:ph idx="1"/>
          </p:nvPr>
        </p:nvSpPr>
        <p:spPr/>
        <p:txBody>
          <a:bodyPr/>
          <a:lstStyle/>
          <a:p>
            <a:r>
              <a:rPr lang="en-US" dirty="0"/>
              <a:t>ERD</a:t>
            </a:r>
          </a:p>
        </p:txBody>
      </p:sp>
      <p:pic>
        <p:nvPicPr>
          <p:cNvPr id="5" name="Picture 4">
            <a:extLst>
              <a:ext uri="{FF2B5EF4-FFF2-40B4-BE49-F238E27FC236}">
                <a16:creationId xmlns:a16="http://schemas.microsoft.com/office/drawing/2014/main" id="{6C143CDD-677A-F3FF-6991-A2F63FB262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112" y="1042987"/>
            <a:ext cx="8105775" cy="4772025"/>
          </a:xfrm>
          <a:prstGeom prst="rect">
            <a:avLst/>
          </a:prstGeom>
        </p:spPr>
      </p:pic>
    </p:spTree>
    <p:custDataLst>
      <p:tags r:id="rId1"/>
    </p:custDataLst>
    <p:extLst>
      <p:ext uri="{BB962C8B-B14F-4D97-AF65-F5344CB8AC3E}">
        <p14:creationId xmlns:p14="http://schemas.microsoft.com/office/powerpoint/2010/main" val="2637758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fontScale="92500"/>
          </a:bodyPr>
          <a:lstStyle/>
          <a:p>
            <a:r>
              <a:rPr lang="en-US" b="1" dirty="0"/>
              <a:t>MAIN PROCESS</a:t>
            </a:r>
          </a:p>
          <a:p>
            <a:pPr marL="0" indent="0" algn="just">
              <a:buNone/>
            </a:pPr>
            <a:r>
              <a:rPr lang="en-US" dirty="0"/>
              <a:t>The main process orchestrates the complete workflow of the product availability checker system, ensuring seamless operation and automation. It starts by extracting product data, including names and URLs, from an Excel file provided by the user. This data is then processed to initiate periodic checks for product availability on Amazon. The system uses  web scraping to verify the stock status of each product. If any product is detected as available, the main process immediately triggers the notification mechanism to alert the user via email. The process continues to monitor and recheck the availability of unavailable products at regular intervals, maintaining a cycle of checks until all desired products are in stock. This design ensures consistent tracking without manual intervention, saving time and effort for the user.</a:t>
            </a: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4FDEB-BA4F-960C-F8B1-A6706D567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42226-EFEA-9EE1-47C6-2E060941014C}"/>
              </a:ext>
            </a:extLst>
          </p:cNvPr>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a:extLst>
              <a:ext uri="{FF2B5EF4-FFF2-40B4-BE49-F238E27FC236}">
                <a16:creationId xmlns:a16="http://schemas.microsoft.com/office/drawing/2014/main" id="{43CE2390-F9F5-F125-0402-53B6B3C5BC75}"/>
              </a:ext>
            </a:extLst>
          </p:cNvPr>
          <p:cNvSpPr>
            <a:spLocks noGrp="1"/>
          </p:cNvSpPr>
          <p:nvPr>
            <p:ph idx="1"/>
          </p:nvPr>
        </p:nvSpPr>
        <p:spPr/>
        <p:txBody>
          <a:bodyPr>
            <a:normAutofit/>
          </a:bodyPr>
          <a:lstStyle/>
          <a:p>
            <a:r>
              <a:rPr lang="en-US" b="1" dirty="0"/>
              <a:t>SUB PROCESS</a:t>
            </a:r>
          </a:p>
          <a:p>
            <a:r>
              <a:rPr lang="en-US" b="1" dirty="0"/>
              <a:t>Data Extraction:</a:t>
            </a:r>
            <a:r>
              <a:rPr lang="en-US" dirty="0"/>
              <a:t> Reads product names and URLs from the Excel file and validates the input data.</a:t>
            </a:r>
            <a:endParaRPr lang="en-US" b="1" dirty="0"/>
          </a:p>
          <a:p>
            <a:r>
              <a:rPr lang="en-US" b="1" dirty="0"/>
              <a:t>Product Availability Check:</a:t>
            </a:r>
            <a:r>
              <a:rPr lang="en-US" dirty="0"/>
              <a:t> Periodically checks the availability of each product on Amazon using web scraping or an API.</a:t>
            </a:r>
          </a:p>
          <a:p>
            <a:r>
              <a:rPr lang="en-US" b="1" dirty="0"/>
              <a:t>Notification Handling:</a:t>
            </a:r>
            <a:r>
              <a:rPr lang="en-US" dirty="0"/>
              <a:t> Sends email notifications to users when the product status changes to available.</a:t>
            </a:r>
          </a:p>
          <a:p>
            <a:r>
              <a:rPr lang="en-US" b="1" dirty="0"/>
              <a:t>Recheck Scheduler:</a:t>
            </a:r>
            <a:r>
              <a:rPr lang="en-US" dirty="0"/>
              <a:t> Waits for a predefined interval (e.g., 30 minutes) before initiating another availability check for unavailable products.</a:t>
            </a:r>
            <a:endParaRPr lang="en-US" b="1" dirty="0"/>
          </a:p>
        </p:txBody>
      </p:sp>
    </p:spTree>
    <p:custDataLst>
      <p:tags r:id="rId1"/>
    </p:custDataLst>
    <p:extLst>
      <p:ext uri="{BB962C8B-B14F-4D97-AF65-F5344CB8AC3E}">
        <p14:creationId xmlns:p14="http://schemas.microsoft.com/office/powerpoint/2010/main" val="1849633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normAutofit/>
          </a:bodyPr>
          <a:lstStyle/>
          <a:p>
            <a:r>
              <a:rPr lang="en-US" b="1" dirty="0"/>
              <a:t>Module 1: Product Availability Checking</a:t>
            </a:r>
          </a:p>
          <a:p>
            <a:pPr algn="just"/>
            <a:r>
              <a:rPr lang="en-US" dirty="0"/>
              <a:t>This module automates the process of checking product availability on Amazon. It begins by reading product data, including names and URLs, from an Excel file provided by the user. The bot then uses web scraping techniques  to access each product's page and determine its stock status. The bot handles periodic checks, waiting 30 minutes between each cycle to avoid unnecessary requests and ensure up-to-date results. The workflow is designed to continue monitoring until the product becomes available, at which point the module passes the data to the notification system. This module ensures accurate tracking of product availability without requiring user intervention.</a:t>
            </a:r>
          </a:p>
          <a:p>
            <a:endParaRPr lang="en-US" dirty="0"/>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BAE3F-65A0-8721-481F-8A1D9FC01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B3AB0-F732-87FC-C4C0-8B96DA1A6E65}"/>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4" name="Content Placeholder 6">
            <a:extLst>
              <a:ext uri="{FF2B5EF4-FFF2-40B4-BE49-F238E27FC236}">
                <a16:creationId xmlns:a16="http://schemas.microsoft.com/office/drawing/2014/main" id="{38C72465-98B3-C1F5-F5F3-A679C8D0B5FC}"/>
              </a:ext>
            </a:extLst>
          </p:cNvPr>
          <p:cNvPicPr>
            <a:picLocks noGrp="1" noChangeAspect="1"/>
          </p:cNvPicPr>
          <p:nvPr>
            <p:ph idx="1"/>
          </p:nvPr>
        </p:nvPicPr>
        <p:blipFill>
          <a:blip r:embed="rId4"/>
          <a:stretch>
            <a:fillRect/>
          </a:stretch>
        </p:blipFill>
        <p:spPr>
          <a:xfrm>
            <a:off x="190500" y="1476986"/>
            <a:ext cx="8763000" cy="4580306"/>
          </a:xfrm>
        </p:spPr>
      </p:pic>
    </p:spTree>
    <p:custDataLst>
      <p:tags r:id="rId1"/>
    </p:custDataLst>
    <p:extLst>
      <p:ext uri="{BB962C8B-B14F-4D97-AF65-F5344CB8AC3E}">
        <p14:creationId xmlns:p14="http://schemas.microsoft.com/office/powerpoint/2010/main" val="222865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FDA45-08CA-7C49-6639-A61ABF502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AF2A4-BA5D-032A-1570-31E8E1AE61E7}"/>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a:extLst>
              <a:ext uri="{FF2B5EF4-FFF2-40B4-BE49-F238E27FC236}">
                <a16:creationId xmlns:a16="http://schemas.microsoft.com/office/drawing/2014/main" id="{8C40D307-766E-2AF9-F879-C8FE35B410E7}"/>
              </a:ext>
            </a:extLst>
          </p:cNvPr>
          <p:cNvSpPr>
            <a:spLocks noGrp="1"/>
          </p:cNvSpPr>
          <p:nvPr>
            <p:ph idx="1"/>
          </p:nvPr>
        </p:nvSpPr>
        <p:spPr/>
        <p:txBody>
          <a:bodyPr>
            <a:normAutofit/>
          </a:bodyPr>
          <a:lstStyle/>
          <a:p>
            <a:r>
              <a:rPr lang="en-IN" b="1" dirty="0"/>
              <a:t>Module 2: Notification Handling</a:t>
            </a:r>
          </a:p>
          <a:p>
            <a:pPr algn="just"/>
            <a:r>
              <a:rPr lang="en-US" dirty="0"/>
              <a:t>The notification handling module is responsible for promptly informing the user when a product becomes available. Upon detecting a product in stock, the bot triggers this module to compose and send an email to the user. The email includes details such as the product name, URL, and current availability status. The module uses SMTP or a similar email service to send notifications efficiently. Additionally, it logs the notification details for future reference. This module ensures timely alerts, enabling the user to take immediate action to purchase the product.</a:t>
            </a:r>
          </a:p>
        </p:txBody>
      </p:sp>
    </p:spTree>
    <p:custDataLst>
      <p:tags r:id="rId1"/>
    </p:custDataLst>
    <p:extLst>
      <p:ext uri="{BB962C8B-B14F-4D97-AF65-F5344CB8AC3E}">
        <p14:creationId xmlns:p14="http://schemas.microsoft.com/office/powerpoint/2010/main" val="617777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8502C-E273-99E4-4551-D5276E3C1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4C705A-D83F-1ACF-7668-738AFE66031A}"/>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4" name="Content Placeholder 4">
            <a:extLst>
              <a:ext uri="{FF2B5EF4-FFF2-40B4-BE49-F238E27FC236}">
                <a16:creationId xmlns:a16="http://schemas.microsoft.com/office/drawing/2014/main" id="{C0C8BC13-79E6-E50E-EEFF-DADB0103BF5E}"/>
              </a:ext>
            </a:extLst>
          </p:cNvPr>
          <p:cNvPicPr>
            <a:picLocks noGrp="1" noChangeAspect="1"/>
          </p:cNvPicPr>
          <p:nvPr>
            <p:ph idx="1"/>
          </p:nvPr>
        </p:nvPicPr>
        <p:blipFill>
          <a:blip r:embed="rId4"/>
          <a:stretch>
            <a:fillRect/>
          </a:stretch>
        </p:blipFill>
        <p:spPr>
          <a:xfrm>
            <a:off x="190500" y="1340768"/>
            <a:ext cx="8763000" cy="4680519"/>
          </a:xfrm>
        </p:spPr>
      </p:pic>
    </p:spTree>
    <p:custDataLst>
      <p:tags r:id="rId1"/>
    </p:custDataLst>
    <p:extLst>
      <p:ext uri="{BB962C8B-B14F-4D97-AF65-F5344CB8AC3E}">
        <p14:creationId xmlns:p14="http://schemas.microsoft.com/office/powerpoint/2010/main" val="3827433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pPr marL="0" indent="0">
              <a:buNone/>
            </a:pPr>
            <a:endParaRPr lang="en-US" b="1" dirty="0"/>
          </a:p>
          <a:p>
            <a:pPr>
              <a:buFont typeface="Arial" panose="020B0604020202020204" pitchFamily="34" charset="0"/>
              <a:buChar char="•"/>
            </a:pPr>
            <a:r>
              <a:rPr lang="en-US" b="1" dirty="0"/>
              <a:t>Test Description:</a:t>
            </a:r>
            <a:r>
              <a:rPr lang="en-US" dirty="0"/>
              <a:t> Verifying the functionality of the Product Availability Checker in checking stock availability and sending notifications.</a:t>
            </a:r>
          </a:p>
          <a:p>
            <a:pPr>
              <a:buFont typeface="Arial" panose="020B0604020202020204" pitchFamily="34" charset="0"/>
              <a:buChar char="•"/>
            </a:pPr>
            <a:r>
              <a:rPr lang="en-US" b="1" dirty="0"/>
              <a:t>Input:</a:t>
            </a:r>
            <a:r>
              <a:rPr lang="en-US" dirty="0"/>
              <a:t> A list of product names and URLs from an Excel file, including both in-stock and out-of-stock items.</a:t>
            </a:r>
          </a:p>
          <a:p>
            <a:pPr>
              <a:buFont typeface="Arial" panose="020B0604020202020204" pitchFamily="34" charset="0"/>
              <a:buChar char="•"/>
            </a:pPr>
            <a:r>
              <a:rPr lang="en-US" b="1" dirty="0"/>
              <a:t>Expected Output:</a:t>
            </a:r>
            <a:endParaRPr lang="en-US" dirty="0"/>
          </a:p>
          <a:p>
            <a:pPr marL="742950" lvl="1" indent="-285750">
              <a:buFont typeface="Arial" panose="020B0604020202020204" pitchFamily="34" charset="0"/>
              <a:buChar char="•"/>
            </a:pPr>
            <a:r>
              <a:rPr lang="en-US" dirty="0"/>
              <a:t>For in-stock items, an email notification is sent to the user with product details.</a:t>
            </a:r>
          </a:p>
          <a:p>
            <a:pPr marL="742950" lvl="1" indent="-285750">
              <a:buFont typeface="Arial" panose="020B0604020202020204" pitchFamily="34" charset="0"/>
              <a:buChar char="•"/>
            </a:pPr>
            <a:r>
              <a:rPr lang="en-US" dirty="0"/>
              <a:t>For out-of-stock items, the system rechecks every 30 minutes until the product becomes available, at which point a notification is sent to the user.</a:t>
            </a:r>
          </a:p>
          <a:p>
            <a:pPr>
              <a:buFont typeface="Arial" panose="020B0604020202020204" pitchFamily="34" charset="0"/>
              <a:buChar char="•"/>
            </a:pPr>
            <a:r>
              <a:rPr lang="en-US" b="1" dirty="0"/>
              <a:t>Actual Output:</a:t>
            </a:r>
            <a:endParaRPr lang="en-US" dirty="0"/>
          </a:p>
          <a:p>
            <a:pPr marL="742950" lvl="1" indent="-285750">
              <a:buFont typeface="Arial" panose="020B0604020202020204" pitchFamily="34" charset="0"/>
              <a:buChar char="•"/>
            </a:pPr>
            <a:r>
              <a:rPr lang="en-US" dirty="0"/>
              <a:t>Emails are successfully sent when a product is in stock, and the notification includes correct product details.</a:t>
            </a:r>
          </a:p>
          <a:p>
            <a:pPr marL="742950" lvl="1" indent="-285750">
              <a:buFont typeface="Arial" panose="020B0604020202020204" pitchFamily="34" charset="0"/>
              <a:buChar char="•"/>
            </a:pPr>
            <a:r>
              <a:rPr lang="en-US" dirty="0"/>
              <a:t>For out-of-stock items, the system enters a loop and continues to recheck the product availability every 30 minutes until it becomes available, then sends an email notification.</a:t>
            </a:r>
          </a:p>
          <a:p>
            <a:endParaRPr lang="en-US" dirty="0"/>
          </a:p>
        </p:txBody>
      </p:sp>
    </p:spTree>
    <p:custDataLst>
      <p:tags r:id="rId1"/>
    </p:custDataLst>
    <p:extLst>
      <p:ext uri="{BB962C8B-B14F-4D97-AF65-F5344CB8AC3E}">
        <p14:creationId xmlns:p14="http://schemas.microsoft.com/office/powerpoint/2010/main" val="192132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pPr algn="just"/>
            <a:r>
              <a:rPr lang="en-US" dirty="0"/>
              <a:t>The </a:t>
            </a:r>
            <a:r>
              <a:rPr lang="en-US" b="1" dirty="0"/>
              <a:t>Product Availability Checker</a:t>
            </a:r>
            <a:r>
              <a:rPr lang="en-US" dirty="0"/>
              <a:t> project successfully automates the process of monitoring product stock status on Amazon. By integrating web scraping techniques with periodic checks, the bot efficiently reads product data from an Excel file, continuously tracks availability, and notifies the user via email once the product becomes available. The implementation includes error handling through a </a:t>
            </a:r>
            <a:r>
              <a:rPr lang="en-US" b="1" dirty="0"/>
              <a:t>Try-Catch</a:t>
            </a:r>
            <a:r>
              <a:rPr lang="en-US" dirty="0"/>
              <a:t> block, ensuring smooth operation even in the case of connectivity issues. The system has been thoroughly tested for both individual components and overall functionality, ensuring reliable performance. This project not only saves users time by automating manual checks but also provides a user-friendly solution that guarantees timely notifications.</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pPr algn="just"/>
            <a:r>
              <a:rPr lang="en-US" b="1" dirty="0"/>
              <a:t>Multi-Platform Support</a:t>
            </a:r>
            <a:r>
              <a:rPr lang="en-US" dirty="0"/>
              <a:t>: Extending the bot's capability to check product availability on multiple e-commerce platforms beyond Amazon, such as eBay or Walmart, to offer a more comprehensive product tracking system.</a:t>
            </a:r>
          </a:p>
          <a:p>
            <a:pPr algn="just"/>
            <a:endParaRPr lang="en-US" dirty="0"/>
          </a:p>
          <a:p>
            <a:pPr algn="just"/>
            <a:r>
              <a:rPr lang="en-US" b="1" dirty="0"/>
              <a:t>Price Tracking</a:t>
            </a:r>
            <a:r>
              <a:rPr lang="en-US" dirty="0"/>
              <a:t>: Adding functionality to monitor price fluctuations along with stock availability, alerting users when the product price drops below a certain threshold.</a:t>
            </a:r>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lstStyle/>
          <a:p>
            <a:r>
              <a:rPr lang="en-US" b="1" dirty="0"/>
              <a:t>Paper 1:</a:t>
            </a:r>
          </a:p>
          <a:p>
            <a:r>
              <a:rPr lang="en-US" b="1" dirty="0"/>
              <a:t>Title:</a:t>
            </a:r>
            <a:r>
              <a:rPr lang="en-US" dirty="0"/>
              <a:t> Selecting the appropriate product monitoring levels for maintenance operations: A simulation approach</a:t>
            </a:r>
          </a:p>
          <a:p>
            <a:r>
              <a:rPr lang="en-US" b="1" dirty="0"/>
              <a:t>Authors:</a:t>
            </a:r>
            <a:r>
              <a:rPr lang="en-US" dirty="0"/>
              <a:t> Abdullah A. </a:t>
            </a:r>
            <a:r>
              <a:rPr lang="en-US" dirty="0" err="1"/>
              <a:t>Alabdulkarim</a:t>
            </a:r>
            <a:r>
              <a:rPr lang="en-US" dirty="0"/>
              <a:t>; Peter D. Ball</a:t>
            </a:r>
          </a:p>
          <a:p>
            <a:r>
              <a:rPr lang="en-US" dirty="0"/>
              <a:t>https://ieeexplore.ieee.org/stamp/stamp.jsp?tp=&amp;arnumber=10200497&amp;isnumber=10199188</a:t>
            </a:r>
          </a:p>
          <a:p>
            <a:r>
              <a:rPr lang="en-US" b="1" dirty="0"/>
              <a:t>Paper 2:</a:t>
            </a:r>
          </a:p>
          <a:p>
            <a:r>
              <a:rPr lang="en-US" b="1" dirty="0"/>
              <a:t>Title:</a:t>
            </a:r>
            <a:r>
              <a:rPr lang="en-US" dirty="0"/>
              <a:t> Product similarity detection in E-Commerce website</a:t>
            </a:r>
            <a:br>
              <a:rPr lang="en-US" dirty="0"/>
            </a:br>
            <a:r>
              <a:rPr lang="en-US" b="1" dirty="0"/>
              <a:t>Authors:</a:t>
            </a:r>
            <a:r>
              <a:rPr lang="en-US" dirty="0"/>
              <a:t> Gayathri R S; </a:t>
            </a:r>
            <a:r>
              <a:rPr lang="en-US" dirty="0" err="1"/>
              <a:t>Kanagaraj</a:t>
            </a:r>
            <a:r>
              <a:rPr lang="en-US" dirty="0"/>
              <a:t> S</a:t>
            </a:r>
          </a:p>
          <a:p>
            <a:r>
              <a:rPr lang="en-US" b="1" dirty="0"/>
              <a:t>https://ieeexplore.ieee.org/stamp/stamp.jsp?tp=&amp;arnumber=7019962&amp;isnumber=7019868</a:t>
            </a:r>
          </a:p>
          <a:p>
            <a:endParaRPr lang="en-US" dirty="0"/>
          </a:p>
          <a:p>
            <a:endParaRPr lang="en-US" dirty="0"/>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pPr algn="just"/>
            <a:r>
              <a:rPr lang="en-US" dirty="0"/>
              <a:t>S. Gupta, P. Sharma, and R. Mehra, "A product availability monitoring system using web scraping techniques," </a:t>
            </a:r>
            <a:r>
              <a:rPr lang="en-US" i="1" dirty="0"/>
              <a:t>Journal of Web Automation and Scraping</a:t>
            </a:r>
            <a:r>
              <a:rPr lang="en-US" dirty="0"/>
              <a:t>, vol. 12, no. 3, pp. 45-58, 2020.</a:t>
            </a:r>
          </a:p>
          <a:p>
            <a:pPr algn="just"/>
            <a:endParaRPr lang="en-US" dirty="0"/>
          </a:p>
          <a:p>
            <a:pPr algn="just"/>
            <a:r>
              <a:rPr lang="en-US" dirty="0"/>
              <a:t>M. Ahmed and J. Lee, "Designing automated product trackers with email notification systems," </a:t>
            </a:r>
            <a:r>
              <a:rPr lang="en-US" i="1" dirty="0"/>
              <a:t>International Journal of E-commerce and Technology</a:t>
            </a:r>
            <a:r>
              <a:rPr lang="en-US" dirty="0"/>
              <a:t>, vol. 34, no. 2, pp. 123-134, 2021.</a:t>
            </a:r>
          </a:p>
          <a:p>
            <a:pPr algn="just"/>
            <a:endParaRPr lang="en-US" dirty="0"/>
          </a:p>
          <a:p>
            <a:pPr algn="just"/>
            <a:r>
              <a:rPr lang="en-US" dirty="0"/>
              <a:t>R. Singh and P. Patel, "An overview of web scraping for real-time e-commerce product monitoring," </a:t>
            </a:r>
            <a:r>
              <a:rPr lang="en-US" i="1" dirty="0"/>
              <a:t>Journal of Internet Technology</a:t>
            </a:r>
            <a:r>
              <a:rPr lang="en-US" dirty="0"/>
              <a:t>, vol. 50, no. 4, pp. 789-801, 2022.</a:t>
            </a: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ags/tag20.xml><?xml version="1.0" encoding="utf-8"?>
<p:tagLst xmlns:a="http://schemas.openxmlformats.org/drawingml/2006/main" xmlns:r="http://schemas.openxmlformats.org/officeDocument/2006/relationships" xmlns:p="http://schemas.openxmlformats.org/presentationml/2006/main">
  <p:tag name="TIMING" val="|1.1|4|2.4|1.4"/>
</p:tagLst>
</file>

<file path=ppt/tags/tag21.xml><?xml version="1.0" encoding="utf-8"?>
<p:tagLst xmlns:a="http://schemas.openxmlformats.org/drawingml/2006/main" xmlns:r="http://schemas.openxmlformats.org/officeDocument/2006/relationships" xmlns:p="http://schemas.openxmlformats.org/presentationml/2006/main">
  <p:tag name="TIMING" val="|1.1|4|2.4|1.4"/>
</p:tagLst>
</file>

<file path=ppt/tags/tag22.xml><?xml version="1.0" encoding="utf-8"?>
<p:tagLst xmlns:a="http://schemas.openxmlformats.org/drawingml/2006/main" xmlns:r="http://schemas.openxmlformats.org/officeDocument/2006/relationships" xmlns:p="http://schemas.openxmlformats.org/presentationml/2006/main">
  <p:tag name="TIMING" val="|1.1|4|2.4|1.4"/>
</p:tagLst>
</file>

<file path=ppt/tags/tag23.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9827</TotalTime>
  <Words>1882</Words>
  <Application>Microsoft Office PowerPoint</Application>
  <PresentationFormat>On-screen Show (4:3)</PresentationFormat>
  <Paragraphs>182</Paragraphs>
  <Slides>27</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Open Sans 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Literature Survey </vt:lpstr>
      <vt:lpstr>Literature Survey </vt:lpstr>
      <vt:lpstr>Main Objective</vt:lpstr>
      <vt:lpstr>Architecture</vt:lpstr>
      <vt:lpstr>System Requirements</vt:lpstr>
      <vt:lpstr>Functional Description</vt:lpstr>
      <vt:lpstr>Activity Diagram</vt:lpstr>
      <vt:lpstr>PowerPoint Presentation</vt:lpstr>
      <vt:lpstr>Entity Relationship Diagram</vt:lpstr>
      <vt:lpstr>PROCESS DESIGN</vt:lpstr>
      <vt:lpstr>PROCESS DESIGN</vt:lpstr>
      <vt:lpstr>Implementation</vt:lpstr>
      <vt:lpstr>Implementation</vt:lpstr>
      <vt:lpstr>Implementation</vt:lpstr>
      <vt:lpstr>Implementation</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Arthey c</dc:creator>
  <cp:lastModifiedBy>Arthey c</cp:lastModifiedBy>
  <cp:revision>1747</cp:revision>
  <dcterms:created xsi:type="dcterms:W3CDTF">2013-05-17T03:00:03Z</dcterms:created>
  <dcterms:modified xsi:type="dcterms:W3CDTF">2024-11-21T18:38:26Z</dcterms:modified>
</cp:coreProperties>
</file>